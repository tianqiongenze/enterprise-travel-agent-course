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a:ea="">
                <a:solidFill>
                  <a:srgbClr val="FFFFFF"/>
                </a:solidFill>
                <a:latin typeface="微软雅黑"/>
                <a:ea typeface="微软雅黑"/>
              </a:rPr>
              <a:t>L04 · GraphQL 查询层与防雪崩守卫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a:ea="">
                <a:solidFill>
                  <a:srgbClr val="BED8E8"/>
                </a:solidFill>
                <a:latin typeface="微软雅黑"/>
                <a:ea typeface="微软雅黑"/>
              </a:rPr>
              <a:t>企业级旅游智能体项目实战 · 第 4 周 · LF2 接口设计与微服务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a:ea="">
                <a:solidFill>
                  <a:srgbClr val="8FB6CE"/>
                </a:solidFill>
                <a:latin typeface="微软雅黑"/>
                <a:ea typeface="微软雅黑"/>
              </a:rPr>
              <a:t>双元制六步法 · 费曼学习法 · 布鲁姆认知分层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a:ea="">
                <a:solidFill>
                  <a:srgbClr val="FFFFFF"/>
                </a:solidFill>
                <a:latin typeface="微软雅黑"/>
                <a:ea typeface="微软雅黑"/>
              </a:rPr>
              <a:t>场所：学校　|　4 学时　|　enterprise-travel-agent 真实项目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GraphQL：要多少拿多少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REST：固定脸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GraphQL：客户端自选字段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schema 强类型契约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本课布鲁姆目标：[应用]在 GraphiQL 完成变量化查询…；[分析]分析深度守卫（上限 7）与成本守卫（…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我们的 schema（真实）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Query.recommend(payload)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HotelOption/TransportOption/ItineraryDay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Mutation.invalidateCache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GraphiQL 实操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浏览器打开 /graphql/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变量化查询演示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自动补全 + 文档面板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守卫一：深度上限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深嵌套 = 恶意查询特征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静态分析先拦截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不进业务逻辑，零成本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守卫二：成本上限 1000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标量字段成本 1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列表字段乘 10 每层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列表炸弹被拒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攻防实验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合法查询 → 通过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10 层嵌套 → errors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列表炸弹 →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REST 与 GraphQL 辩论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REST：简单/缓存友好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GraphQL：聚合/省流量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结论：按场景选择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双面契约一致性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REST /recommend 与 GraphQL 对照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city/days/hotels 必须一致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不一致 = 事故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APQ 思想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持久化查询白名单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先注册后使用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大厂网关标配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检查单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变量化查询通过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深度被拒截图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成本被拒截图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双面一致比对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费曼题目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深度守卫如何挡住恶意查询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类比：景区限流/银行柜台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成果物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GraphiQL 测试截图 + 说明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新字段契约设计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六步法教学过程（180 分钟）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步骤　|　时长　|　活动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资讯（Informieren）　|　30min　|　GraphQL 与 REST 对比；守卫参数 TRAVEL_GRAPHQL_MAX_DEPTH/COST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计划（Planen）　|　20min　|　设计攻击性查询（深嵌套/列表炸弹）方案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决策（Entscheiden）　|　15min　|　确认攻击方案的合法边界（仅本集群、不并发轰炸）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实施（Durchführen）　|　70min　|　变量化查询→守卫攻防实验→双面契约一致性抽查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检查（Kontrollieren）　|　30min　|　检查单互查：正常查询通过？深查询被拒？双面一致？</a:t>
            </a:r>
          </a:p>
          <a:p>
            <a:pPr algn="l"/>
            <a:r>
              <a:rPr sz="1500" b="0" a:ea="">
                <a:solidFill>
                  <a:srgbClr val="212A33"/>
                </a:solidFill>
                <a:latin typeface="微软雅黑"/>
                <a:ea typeface="微软雅黑"/>
              </a:rPr>
              <a:t>评价（Bewerten）　|　15min　|　费曼×3 + REST 与 GraphQL 辩论 3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费曼时刻 + 随堂快测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费曼题目：讲清：深度守卫如何挡住恶意查询（用类比：景区限流）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规则：3 人 × 3 分钟；禁用未解释术语；卡壳当场补漏重讲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评分：清晰度2 + 类比质量2 + 应对追问1（过程考核素质分）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— 随堂快测 —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Q：守卫的两个环境变量是什么？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Q：列表字段在成本估算中权重是多少？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Q：恶意深嵌套查询在进入业务逻辑前还是后被拦截？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答案在教案：04-教案/（教师用）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a:ea="">
                <a:solidFill>
                  <a:srgbClr val="FFFFFF"/>
                </a:solidFill>
                <a:latin typeface="微软雅黑"/>
                <a:ea typeface="微软雅黑"/>
              </a:rPr>
              <a:t>课后任务与预告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课后作业：为 GraphQL 补 1 个新字段的契约设计（不实现）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企业衔接：师傅讲：为什么大厂网关层都要查询白名单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成果物提交：课程仓库 Issue（截图/文件）</a:t>
            </a:r>
          </a:p>
          <a:p>
            <a:pPr algn="l"/>
            <a:r>
              <a:rPr sz="1800" b="0" a:ea="">
                <a:solidFill>
                  <a:srgbClr val="212A33"/>
                </a:solidFill>
                <a:latin typeface="微软雅黑"/>
                <a:ea typeface="微软雅黑"/>
              </a:rPr>
              <a:t>• 下节课：见授课计划 02-授课计划.md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806440"/>
            <a:ext cx="1097280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91616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a:ea="">
                <a:solidFill>
                  <a:srgbClr val="FFFFFF"/>
                </a:solidFill>
                <a:latin typeface="微软雅黑"/>
                <a:ea typeface="微软雅黑"/>
              </a:rPr>
              <a:t>★ 证据文化：所有结论必须有实测数据支撑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30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a:ea="">
                <a:solidFill>
                  <a:srgbClr val="8A9BA8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